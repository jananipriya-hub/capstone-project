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2A4D"/>
    <a:srgbClr val="121856"/>
    <a:srgbClr val="1C44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D254C7-4E4A-45F6-A260-B2B5E0A58C29}" v="35" dt="2026-10-24T15:32:07.5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41" autoAdjust="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638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GARAJAN R" userId="b03e0ee7620d123e" providerId="LiveId" clId="{388EB7EC-5067-4E43-90E3-CE0B11D990AE}"/>
    <pc:docChg chg="undo custSel addSld delSld modSld sldOrd">
      <pc:chgData name="NAGARAJAN R" userId="b03e0ee7620d123e" providerId="LiveId" clId="{388EB7EC-5067-4E43-90E3-CE0B11D990AE}" dt="2026-10-24T15:35:58.769" v="605" actId="1076"/>
      <pc:docMkLst>
        <pc:docMk/>
      </pc:docMkLst>
      <pc:sldChg chg="setBg">
        <pc:chgData name="NAGARAJAN R" userId="b03e0ee7620d123e" providerId="LiveId" clId="{388EB7EC-5067-4E43-90E3-CE0B11D990AE}" dt="2026-10-24T15:27:59.468" v="493"/>
        <pc:sldMkLst>
          <pc:docMk/>
          <pc:sldMk cId="0" sldId="256"/>
        </pc:sldMkLst>
      </pc:sldChg>
      <pc:sldChg chg="setBg">
        <pc:chgData name="NAGARAJAN R" userId="b03e0ee7620d123e" providerId="LiveId" clId="{388EB7EC-5067-4E43-90E3-CE0B11D990AE}" dt="2026-10-24T15:27:54.476" v="492"/>
        <pc:sldMkLst>
          <pc:docMk/>
          <pc:sldMk cId="0" sldId="257"/>
        </pc:sldMkLst>
      </pc:sldChg>
      <pc:sldChg chg="modSp mod setBg">
        <pc:chgData name="NAGARAJAN R" userId="b03e0ee7620d123e" providerId="LiveId" clId="{388EB7EC-5067-4E43-90E3-CE0B11D990AE}" dt="2026-10-24T15:27:48.362" v="491"/>
        <pc:sldMkLst>
          <pc:docMk/>
          <pc:sldMk cId="0" sldId="258"/>
        </pc:sldMkLst>
        <pc:spChg chg="mod">
          <ac:chgData name="NAGARAJAN R" userId="b03e0ee7620d123e" providerId="LiveId" clId="{388EB7EC-5067-4E43-90E3-CE0B11D990AE}" dt="2026-10-24T14:59:22.531" v="291" actId="207"/>
          <ac:spMkLst>
            <pc:docMk/>
            <pc:sldMk cId="0" sldId="258"/>
            <ac:spMk id="3" creationId="{00000000-0000-0000-0000-000000000000}"/>
          </ac:spMkLst>
        </pc:spChg>
      </pc:sldChg>
      <pc:sldChg chg="addSp modSp mod setBg">
        <pc:chgData name="NAGARAJAN R" userId="b03e0ee7620d123e" providerId="LiveId" clId="{388EB7EC-5067-4E43-90E3-CE0B11D990AE}" dt="2026-10-24T15:32:21.461" v="592" actId="5793"/>
        <pc:sldMkLst>
          <pc:docMk/>
          <pc:sldMk cId="0" sldId="259"/>
        </pc:sldMkLst>
        <pc:spChg chg="mod">
          <ac:chgData name="NAGARAJAN R" userId="b03e0ee7620d123e" providerId="LiveId" clId="{388EB7EC-5067-4E43-90E3-CE0B11D990AE}" dt="2026-10-24T15:32:21.461" v="592" actId="5793"/>
          <ac:spMkLst>
            <pc:docMk/>
            <pc:sldMk cId="0" sldId="259"/>
            <ac:spMk id="3" creationId="{00000000-0000-0000-0000-000000000000}"/>
          </ac:spMkLst>
        </pc:spChg>
        <pc:picChg chg="add mod">
          <ac:chgData name="NAGARAJAN R" userId="b03e0ee7620d123e" providerId="LiveId" clId="{388EB7EC-5067-4E43-90E3-CE0B11D990AE}" dt="2026-10-24T15:13:13.628" v="417" actId="1076"/>
          <ac:picMkLst>
            <pc:docMk/>
            <pc:sldMk cId="0" sldId="259"/>
            <ac:picMk id="6" creationId="{56EA3657-F818-5FE7-6FF9-353B20CB81F7}"/>
          </ac:picMkLst>
        </pc:picChg>
      </pc:sldChg>
      <pc:sldChg chg="modSp mod setBg">
        <pc:chgData name="NAGARAJAN R" userId="b03e0ee7620d123e" providerId="LiveId" clId="{388EB7EC-5067-4E43-90E3-CE0B11D990AE}" dt="2026-10-24T15:28:06.242" v="494"/>
        <pc:sldMkLst>
          <pc:docMk/>
          <pc:sldMk cId="0" sldId="260"/>
        </pc:sldMkLst>
        <pc:spChg chg="mod">
          <ac:chgData name="NAGARAJAN R" userId="b03e0ee7620d123e" providerId="LiveId" clId="{388EB7EC-5067-4E43-90E3-CE0B11D990AE}" dt="2026-10-24T14:51:39.997" v="164" actId="20577"/>
          <ac:spMkLst>
            <pc:docMk/>
            <pc:sldMk cId="0" sldId="260"/>
            <ac:spMk id="3" creationId="{00000000-0000-0000-0000-000000000000}"/>
          </ac:spMkLst>
        </pc:spChg>
      </pc:sldChg>
      <pc:sldChg chg="addSp modSp mod setBg">
        <pc:chgData name="NAGARAJAN R" userId="b03e0ee7620d123e" providerId="LiveId" clId="{388EB7EC-5067-4E43-90E3-CE0B11D990AE}" dt="2026-10-24T15:35:58.769" v="605" actId="1076"/>
        <pc:sldMkLst>
          <pc:docMk/>
          <pc:sldMk cId="0" sldId="261"/>
        </pc:sldMkLst>
        <pc:spChg chg="mod">
          <ac:chgData name="NAGARAJAN R" userId="b03e0ee7620d123e" providerId="LiveId" clId="{388EB7EC-5067-4E43-90E3-CE0B11D990AE}" dt="2026-10-24T14:54:42.005" v="222" actId="20577"/>
          <ac:spMkLst>
            <pc:docMk/>
            <pc:sldMk cId="0" sldId="261"/>
            <ac:spMk id="3" creationId="{00000000-0000-0000-0000-000000000000}"/>
          </ac:spMkLst>
        </pc:spChg>
        <pc:picChg chg="add mod">
          <ac:chgData name="NAGARAJAN R" userId="b03e0ee7620d123e" providerId="LiveId" clId="{388EB7EC-5067-4E43-90E3-CE0B11D990AE}" dt="2026-10-24T15:35:58.769" v="605" actId="1076"/>
          <ac:picMkLst>
            <pc:docMk/>
            <pc:sldMk cId="0" sldId="261"/>
            <ac:picMk id="6" creationId="{C6B29A49-4164-01D7-071B-66599658A4D0}"/>
          </ac:picMkLst>
        </pc:picChg>
      </pc:sldChg>
      <pc:sldChg chg="modSp mod setBg">
        <pc:chgData name="NAGARAJAN R" userId="b03e0ee7620d123e" providerId="LiveId" clId="{388EB7EC-5067-4E43-90E3-CE0B11D990AE}" dt="2026-10-24T15:28:14.995" v="496"/>
        <pc:sldMkLst>
          <pc:docMk/>
          <pc:sldMk cId="0" sldId="262"/>
        </pc:sldMkLst>
        <pc:spChg chg="mod">
          <ac:chgData name="NAGARAJAN R" userId="b03e0ee7620d123e" providerId="LiveId" clId="{388EB7EC-5067-4E43-90E3-CE0B11D990AE}" dt="2026-10-24T14:56:12.251" v="232" actId="20577"/>
          <ac:spMkLst>
            <pc:docMk/>
            <pc:sldMk cId="0" sldId="262"/>
            <ac:spMk id="3" creationId="{00000000-0000-0000-0000-000000000000}"/>
          </ac:spMkLst>
        </pc:spChg>
      </pc:sldChg>
      <pc:sldChg chg="addSp modSp new mod setBg">
        <pc:chgData name="NAGARAJAN R" userId="b03e0ee7620d123e" providerId="LiveId" clId="{388EB7EC-5067-4E43-90E3-CE0B11D990AE}" dt="2026-10-24T15:31:57.936" v="584" actId="207"/>
        <pc:sldMkLst>
          <pc:docMk/>
          <pc:sldMk cId="4081780917" sldId="263"/>
        </pc:sldMkLst>
        <pc:spChg chg="mod">
          <ac:chgData name="NAGARAJAN R" userId="b03e0ee7620d123e" providerId="LiveId" clId="{388EB7EC-5067-4E43-90E3-CE0B11D990AE}" dt="2026-10-24T15:31:57.936" v="584" actId="207"/>
          <ac:spMkLst>
            <pc:docMk/>
            <pc:sldMk cId="4081780917" sldId="263"/>
            <ac:spMk id="2" creationId="{C838CC8A-67BF-B8D2-CD18-1777C4DBDCAD}"/>
          </ac:spMkLst>
        </pc:spChg>
        <pc:spChg chg="mod">
          <ac:chgData name="NAGARAJAN R" userId="b03e0ee7620d123e" providerId="LiveId" clId="{388EB7EC-5067-4E43-90E3-CE0B11D990AE}" dt="2026-10-24T15:27:36.913" v="489" actId="207"/>
          <ac:spMkLst>
            <pc:docMk/>
            <pc:sldMk cId="4081780917" sldId="263"/>
            <ac:spMk id="3" creationId="{6F491354-8276-E59C-D5EB-AAD82B336FFB}"/>
          </ac:spMkLst>
        </pc:spChg>
        <pc:picChg chg="add mod">
          <ac:chgData name="NAGARAJAN R" userId="b03e0ee7620d123e" providerId="LiveId" clId="{388EB7EC-5067-4E43-90E3-CE0B11D990AE}" dt="2026-10-24T15:08:15.884" v="357" actId="1076"/>
          <ac:picMkLst>
            <pc:docMk/>
            <pc:sldMk cId="4081780917" sldId="263"/>
            <ac:picMk id="5" creationId="{14CA7456-76C7-7D75-847F-1F3F004C3222}"/>
          </ac:picMkLst>
        </pc:picChg>
      </pc:sldChg>
      <pc:sldChg chg="new del">
        <pc:chgData name="NAGARAJAN R" userId="b03e0ee7620d123e" providerId="LiveId" clId="{388EB7EC-5067-4E43-90E3-CE0B11D990AE}" dt="2026-10-24T15:03:48.043" v="298" actId="2696"/>
        <pc:sldMkLst>
          <pc:docMk/>
          <pc:sldMk cId="4183635446" sldId="263"/>
        </pc:sldMkLst>
      </pc:sldChg>
      <pc:sldChg chg="addSp modSp new mod ord setBg">
        <pc:chgData name="NAGARAJAN R" userId="b03e0ee7620d123e" providerId="LiveId" clId="{388EB7EC-5067-4E43-90E3-CE0B11D990AE}" dt="2026-10-24T15:31:34.729" v="580" actId="20577"/>
        <pc:sldMkLst>
          <pc:docMk/>
          <pc:sldMk cId="19754428" sldId="264"/>
        </pc:sldMkLst>
        <pc:spChg chg="mod">
          <ac:chgData name="NAGARAJAN R" userId="b03e0ee7620d123e" providerId="LiveId" clId="{388EB7EC-5067-4E43-90E3-CE0B11D990AE}" dt="2026-10-24T15:30:24.344" v="533" actId="20577"/>
          <ac:spMkLst>
            <pc:docMk/>
            <pc:sldMk cId="19754428" sldId="264"/>
            <ac:spMk id="2" creationId="{0E0E18E1-4A9A-F07B-1E24-5D33757AF7EB}"/>
          </ac:spMkLst>
        </pc:spChg>
        <pc:spChg chg="mod">
          <ac:chgData name="NAGARAJAN R" userId="b03e0ee7620d123e" providerId="LiveId" clId="{388EB7EC-5067-4E43-90E3-CE0B11D990AE}" dt="2026-10-24T15:31:34.729" v="580" actId="20577"/>
          <ac:spMkLst>
            <pc:docMk/>
            <pc:sldMk cId="19754428" sldId="264"/>
            <ac:spMk id="3" creationId="{2FCB77C0-EBCD-E8A4-5D1D-EE281BAB1DDF}"/>
          </ac:spMkLst>
        </pc:spChg>
        <pc:picChg chg="add mod">
          <ac:chgData name="NAGARAJAN R" userId="b03e0ee7620d123e" providerId="LiveId" clId="{388EB7EC-5067-4E43-90E3-CE0B11D990AE}" dt="2026-10-24T15:10:48.674" v="410" actId="14100"/>
          <ac:picMkLst>
            <pc:docMk/>
            <pc:sldMk cId="19754428" sldId="264"/>
            <ac:picMk id="5" creationId="{F4A4FD3C-9248-A658-0846-3FD0C4D70998}"/>
          </ac:picMkLst>
        </pc:picChg>
        <pc:picChg chg="add mod">
          <ac:chgData name="NAGARAJAN R" userId="b03e0ee7620d123e" providerId="LiveId" clId="{388EB7EC-5067-4E43-90E3-CE0B11D990AE}" dt="2026-10-24T15:15:52.864" v="421" actId="1076"/>
          <ac:picMkLst>
            <pc:docMk/>
            <pc:sldMk cId="19754428" sldId="264"/>
            <ac:picMk id="7" creationId="{920262AB-E484-7120-E0A2-3EAED6EAE473}"/>
          </ac:picMkLst>
        </pc:picChg>
      </pc:sldChg>
      <pc:sldChg chg="new del">
        <pc:chgData name="NAGARAJAN R" userId="b03e0ee7620d123e" providerId="LiveId" clId="{388EB7EC-5067-4E43-90E3-CE0B11D990AE}" dt="2026-10-24T15:08:29.804" v="359" actId="2696"/>
        <pc:sldMkLst>
          <pc:docMk/>
          <pc:sldMk cId="3565371590" sldId="264"/>
        </pc:sldMkLst>
      </pc:sldChg>
      <pc:sldChg chg="addSp modSp new mod setBg">
        <pc:chgData name="NAGARAJAN R" userId="b03e0ee7620d123e" providerId="LiveId" clId="{388EB7EC-5067-4E43-90E3-CE0B11D990AE}" dt="2026-10-24T15:29:01.886" v="498" actId="207"/>
        <pc:sldMkLst>
          <pc:docMk/>
          <pc:sldMk cId="3168493161" sldId="265"/>
        </pc:sldMkLst>
        <pc:spChg chg="mod">
          <ac:chgData name="NAGARAJAN R" userId="b03e0ee7620d123e" providerId="LiveId" clId="{388EB7EC-5067-4E43-90E3-CE0B11D990AE}" dt="2026-10-24T15:29:01.886" v="498" actId="207"/>
          <ac:spMkLst>
            <pc:docMk/>
            <pc:sldMk cId="3168493161" sldId="265"/>
            <ac:spMk id="2" creationId="{05D3517E-A400-92AC-D344-17463F04B32B}"/>
          </ac:spMkLst>
        </pc:spChg>
        <pc:spChg chg="mod">
          <ac:chgData name="NAGARAJAN R" userId="b03e0ee7620d123e" providerId="LiveId" clId="{388EB7EC-5067-4E43-90E3-CE0B11D990AE}" dt="2026-10-24T15:26:06.889" v="482" actId="207"/>
          <ac:spMkLst>
            <pc:docMk/>
            <pc:sldMk cId="3168493161" sldId="265"/>
            <ac:spMk id="3" creationId="{0561378A-B5B3-4655-4501-2A5F304D5182}"/>
          </ac:spMkLst>
        </pc:spChg>
        <pc:picChg chg="add mod">
          <ac:chgData name="NAGARAJAN R" userId="b03e0ee7620d123e" providerId="LiveId" clId="{388EB7EC-5067-4E43-90E3-CE0B11D990AE}" dt="2026-10-24T15:17:37.750" v="480" actId="14100"/>
          <ac:picMkLst>
            <pc:docMk/>
            <pc:sldMk cId="3168493161" sldId="265"/>
            <ac:picMk id="5" creationId="{3CE0E68B-1F1A-A7EF-4AA1-A2936EB8C78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800" b="1">
                <a:solidFill>
                  <a:srgbClr val="22D3EE"/>
                </a:solidFill>
                <a:latin typeface="Segoe UI"/>
              </a:defRPr>
            </a:pPr>
            <a:r>
              <a:t>Credit Risk Analysis &amp; Loan Underwriting System</a:t>
            </a:r>
          </a:p>
          <a:p>
            <a:pPr>
              <a:defRPr sz="2000">
                <a:solidFill>
                  <a:srgbClr val="8CA8C6"/>
                </a:solidFill>
                <a:latin typeface="Segoe UI"/>
              </a:defRPr>
            </a:pPr>
            <a:r>
              <a:t>Machine Learning-Powered Decision Support Platform</a:t>
            </a:r>
            <a:br/>
            <a:r>
              <a:t>Author: Janani Priya N. | B.Tech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  <a:latin typeface="Segoe UI"/>
              </a:defRPr>
            </a:pPr>
            <a:r>
              <a:rPr dirty="0"/>
              <a:t>The Challenge of Modern Lending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7107" y="1463040"/>
            <a:ext cx="106984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Banks lose a lot of money when borrowers default on loans.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Manual loan checking is slow, and different officers can reach different decisions on similar cases.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Our aim was to build a system that checks an applicant instantly, gives a default probability, and explains why it made its decision.</a:t>
            </a:r>
          </a:p>
          <a:p>
            <a:pPr lvl="0"/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  <a:latin typeface="Segoe UI"/>
              </a:defRPr>
            </a:pPr>
            <a:r>
              <a:t>Data Engineering &amp;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chemeClr val="bg1"/>
                </a:solidFill>
              </a:rPr>
              <a:t> Source Data:</a:t>
            </a:r>
            <a:r>
              <a:rPr lang="en-IN" dirty="0">
                <a:solidFill>
                  <a:schemeClr val="bg1"/>
                </a:solidFill>
              </a:rPr>
              <a:t> I used a credit risk dataset with applicant details, financial history and loan </a:t>
            </a:r>
            <a:r>
              <a:rPr lang="en-IN" dirty="0" err="1">
                <a:solidFill>
                  <a:schemeClr val="bg1"/>
                </a:solidFill>
              </a:rPr>
              <a:t>informationand</a:t>
            </a:r>
            <a:r>
              <a:rPr lang="en-IN" dirty="0">
                <a:solidFill>
                  <a:schemeClr val="bg1"/>
                </a:solidFill>
              </a:rPr>
              <a:t> cleaned them.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Handling missing values : Every column was checked for missing values, and nulls in the affected columns were replaced with the median.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Feature Engineering : Loan grades (A to G) were converted to numbers and created a debt-to-income (DTI) ratio and a credit history length feature.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Handling Imbalance : Safe loans far outnumber defaults in the data, so used </a:t>
            </a:r>
            <a:r>
              <a:rPr lang="en-IN" dirty="0" err="1">
                <a:solidFill>
                  <a:schemeClr val="bg1"/>
                </a:solidFill>
              </a:rPr>
              <a:t>class_weight</a:t>
            </a:r>
            <a:r>
              <a:rPr lang="en-IN" dirty="0">
                <a:solidFill>
                  <a:schemeClr val="bg1"/>
                </a:solidFill>
              </a:rPr>
              <a:t>='balanced' to make sure the model pays attention to the defaulters.</a:t>
            </a:r>
          </a:p>
          <a:p>
            <a:pPr>
              <a:spcAft>
                <a:spcPts val="1400"/>
              </a:spcAft>
              <a:defRPr sz="1800">
                <a:solidFill>
                  <a:srgbClr val="E6F1FF"/>
                </a:solidFill>
                <a:latin typeface="Segoe UI"/>
              </a:defRPr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  <a:latin typeface="Segoe UI"/>
              </a:defRPr>
            </a:pPr>
            <a:r>
              <a:t>Key Risk Drivers &amp; Data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6400800" cy="2877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6F1FF"/>
                </a:solidFill>
                <a:latin typeface="Segoe UI"/>
              </a:defRPr>
            </a:pPr>
            <a:r>
              <a:rPr lang="en-IN" sz="2000" dirty="0">
                <a:solidFill>
                  <a:srgbClr val="E6F1FF"/>
                </a:solidFill>
                <a:latin typeface="Segoe UI"/>
              </a:rPr>
              <a:t>Income vs. Default :</a:t>
            </a: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E6F1FF"/>
                </a:solidFill>
                <a:latin typeface="Segoe UI"/>
              </a:defRPr>
            </a:pPr>
            <a:r>
              <a:rPr lang="en-IN" dirty="0">
                <a:solidFill>
                  <a:srgbClr val="E6F1FF"/>
                </a:solidFill>
                <a:latin typeface="Segoe UI"/>
              </a:rPr>
              <a:t>Applicants who defaulted tend to earn less. </a:t>
            </a: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E6F1FF"/>
                </a:solidFill>
                <a:latin typeface="Segoe UI"/>
              </a:defRPr>
            </a:pPr>
            <a:r>
              <a:rPr lang="en-IN" dirty="0">
                <a:solidFill>
                  <a:srgbClr val="E6F1FF"/>
                </a:solidFill>
                <a:latin typeface="Segoe UI"/>
              </a:rPr>
              <a:t>The median annual income of defaulters is about 40,000, compared with about 60,000 for applicants who repaid.</a:t>
            </a: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E6F1FF"/>
                </a:solidFill>
                <a:latin typeface="Segoe UI"/>
              </a:defRPr>
            </a:pPr>
            <a:r>
              <a:rPr lang="en-IN" dirty="0">
                <a:solidFill>
                  <a:srgbClr val="E6F1FF"/>
                </a:solidFill>
                <a:latin typeface="Segoe UI"/>
              </a:rPr>
              <a:t> However, the two groups overlap considerably, so income alone cannot decide an application. Low income calls for a closer look, but it should be weighed together with the other factors.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498079" y="1645920"/>
            <a:ext cx="4114800" cy="4114800"/>
          </a:xfrm>
          <a:prstGeom prst="rect">
            <a:avLst/>
          </a:prstGeom>
          <a:solidFill>
            <a:srgbClr val="0E2A4D"/>
          </a:solidFill>
          <a:ln>
            <a:solidFill>
              <a:srgbClr val="1C4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8CA8C6"/>
                </a:solidFill>
              </a:defRPr>
            </a:pPr>
            <a:br/>
            <a:br/>
            <a:r>
              <a:t>[ Insert eda_income_patterns_dark.png here ]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EA3657-F818-5FE7-6FF9-353B20CB8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809" y="1364718"/>
            <a:ext cx="5055339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8CC8A-67BF-B8D2-CD18-1777C4DBD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Loan Intent and Default Rate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91354-8276-E59C-D5EB-AAD82B336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800" dirty="0">
                <a:solidFill>
                  <a:schemeClr val="bg1"/>
                </a:solidFill>
              </a:rPr>
              <a:t>Default rates differ clearly by loan purpose. </a:t>
            </a:r>
          </a:p>
          <a:p>
            <a:r>
              <a:rPr lang="en-IN" sz="1800" dirty="0">
                <a:solidFill>
                  <a:schemeClr val="bg1"/>
                </a:solidFill>
              </a:rPr>
              <a:t>Debt consolidation (29%), medical (27%) and home improvement (26%) loans default most often. </a:t>
            </a:r>
          </a:p>
          <a:p>
            <a:r>
              <a:rPr lang="en-IN" sz="1800" dirty="0">
                <a:solidFill>
                  <a:schemeClr val="bg1"/>
                </a:solidFill>
              </a:rPr>
              <a:t>Personal loans sit in the middle at 20%, while education (17%) and		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       venture (15%) loans are the safest purposes. </a:t>
            </a:r>
          </a:p>
          <a:p>
            <a:r>
              <a:rPr lang="en-IN" sz="1800" dirty="0">
                <a:solidFill>
                  <a:schemeClr val="bg1"/>
                </a:solidFill>
              </a:rPr>
              <a:t>This suggests that higher-risk categories may need closer manual review                 or different interest rates.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CA7456-76C7-7D75-847F-1F3F004C3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3401" y="2552796"/>
            <a:ext cx="4272121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780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E18E1-4A9A-F07B-1E24-5D33757AF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83569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bg1"/>
                </a:solidFill>
              </a:rPr>
              <a:t>Loan Amount Distribution 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and  Risk Across Loan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 Grades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B77C0-EBCD-E8A4-5D1D-EE281BAB1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42" y="2332037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>
                <a:solidFill>
                  <a:schemeClr val="bg1"/>
                </a:solidFill>
              </a:rPr>
              <a:t>Loan Amount Distribution:</a:t>
            </a:r>
          </a:p>
          <a:p>
            <a:r>
              <a:rPr lang="en-IN" sz="1800" dirty="0">
                <a:solidFill>
                  <a:schemeClr val="bg1"/>
                </a:solidFill>
              </a:rPr>
              <a:t>Most loan requests fall between 5,000 and 15,000. </a:t>
            </a:r>
          </a:p>
          <a:p>
            <a:r>
              <a:rPr lang="en-IN" sz="1800" dirty="0">
                <a:solidFill>
                  <a:schemeClr val="bg1"/>
                </a:solidFill>
              </a:rPr>
              <a:t>Requests above about 20,000 are rare, so the model has seen                             fewer similar cases and its score is less certain for large loans.</a:t>
            </a:r>
          </a:p>
          <a:p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2000" dirty="0">
                <a:solidFill>
                  <a:schemeClr val="bg1"/>
                </a:solidFill>
              </a:rPr>
              <a:t>Loan Grades:</a:t>
            </a:r>
          </a:p>
          <a:p>
            <a:r>
              <a:rPr lang="en-IN" sz="1800" dirty="0">
                <a:solidFill>
                  <a:schemeClr val="bg1"/>
                </a:solidFill>
              </a:rPr>
              <a:t>Loan grade is a strong indicator of risk. </a:t>
            </a:r>
          </a:p>
          <a:p>
            <a:r>
              <a:rPr lang="en-IN" sz="1800" dirty="0">
                <a:solidFill>
                  <a:schemeClr val="bg1"/>
                </a:solidFill>
              </a:rPr>
              <a:t>Applicants in grades A to C mostly repaid their loans. </a:t>
            </a:r>
          </a:p>
          <a:p>
            <a:r>
              <a:rPr lang="en-IN" sz="1800" dirty="0">
                <a:solidFill>
                  <a:schemeClr val="bg1"/>
                </a:solidFill>
              </a:rPr>
              <a:t>From grade D onwards, defaulters outnumber those who repaid,                             so grades D to G should be treated as high risk.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A4FD3C-9248-A658-0846-3FD0C4D70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3202" y="3775587"/>
            <a:ext cx="5120309" cy="2980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0262AB-E484-7120-E0A2-3EAED6EAE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202" y="483569"/>
            <a:ext cx="5058704" cy="310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4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3517E-A400-92AC-D344-17463F04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Credit History Length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1378A-B5B3-4655-4501-2A5F304D5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800" dirty="0">
                <a:solidFill>
                  <a:schemeClr val="bg1"/>
                </a:solidFill>
              </a:rPr>
              <a:t>Most applicants have only 2 to 4 years of credit history, so most defaults also come from this group. </a:t>
            </a:r>
          </a:p>
          <a:p>
            <a:r>
              <a:rPr lang="en-IN" sz="1800" dirty="0">
                <a:solidFill>
                  <a:schemeClr val="bg1"/>
                </a:solidFill>
              </a:rPr>
              <a:t>Defaults become much less common for applicants with longer histories. </a:t>
            </a:r>
          </a:p>
          <a:p>
            <a:r>
              <a:rPr lang="en-IN" sz="1800" dirty="0">
                <a:solidFill>
                  <a:schemeClr val="bg1"/>
                </a:solidFill>
              </a:rPr>
              <a:t>A short credit history gives less proof of repayment behaviour, which                 makes these applicants harder to assess.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E0E68B-1F1A-A7EF-4AA1-A2936EB8C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925755"/>
            <a:ext cx="5879690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493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  <a:latin typeface="Segoe UI"/>
              </a:defRPr>
            </a:pPr>
            <a:r>
              <a:t>Predictive Modeling: Random Forest Classifier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Model Selection :  I chose Random Forest because it handles non-linear relationships well and is less likely to overfit.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Evaluation Metrics : It reached a ROC-AUC of about 0.93, which means it separates safe borrowers from risky ones very well.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Model Artifacts : The trained model (</a:t>
            </a:r>
            <a:r>
              <a:rPr lang="en-IN" dirty="0" err="1">
                <a:solidFill>
                  <a:schemeClr val="bg1"/>
                </a:solidFill>
              </a:rPr>
              <a:t>credit_risk_rf_model.pkl</a:t>
            </a:r>
            <a:r>
              <a:rPr lang="en-IN" dirty="0">
                <a:solidFill>
                  <a:schemeClr val="bg1"/>
                </a:solidFill>
              </a:rPr>
              <a:t>), the scalers and the feature list are saved so the web app can load them directly.</a:t>
            </a:r>
          </a:p>
          <a:p>
            <a:pPr>
              <a:spcAft>
                <a:spcPts val="1400"/>
              </a:spcAft>
              <a:defRPr sz="1800">
                <a:solidFill>
                  <a:srgbClr val="E6F1FF"/>
                </a:solidFill>
                <a:latin typeface="Segoe UI"/>
              </a:defRPr>
            </a:pP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  <a:latin typeface="Segoe UI"/>
              </a:defRPr>
            </a:pPr>
            <a:r>
              <a:t>Production Deployment &amp; Interactive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64008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Technology Used : Built with Python, Scikit-learn, </a:t>
            </a:r>
            <a:r>
              <a:rPr lang="en-IN" dirty="0" err="1">
                <a:solidFill>
                  <a:schemeClr val="bg1"/>
                </a:solidFill>
              </a:rPr>
              <a:t>Streamlit</a:t>
            </a:r>
            <a:r>
              <a:rPr lang="en-IN" dirty="0">
                <a:solidFill>
                  <a:schemeClr val="bg1"/>
                </a:solidFill>
              </a:rPr>
              <a:t>, Pandas and Seaborn, with the code on GitHub.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UI Features : It has a sidebar for moving between pages, a login popup, and a log of past evaluations.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Explainability : The “Why This Score” section explains each result using the applicant’s DTI ratio, loan grade and credit history length.</a:t>
            </a: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E6F1FF"/>
                </a:solidFill>
                <a:latin typeface="Segoe UI"/>
              </a:defRPr>
            </a:pPr>
            <a:endParaRPr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498079" y="1645920"/>
            <a:ext cx="4114800" cy="4114800"/>
          </a:xfrm>
          <a:prstGeom prst="rect">
            <a:avLst/>
          </a:prstGeom>
          <a:solidFill>
            <a:srgbClr val="0E2A4D"/>
          </a:solidFill>
          <a:ln>
            <a:solidFill>
              <a:srgbClr val="1C4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8CA8C6"/>
                </a:solidFill>
              </a:defRPr>
            </a:pPr>
            <a:br>
              <a:rPr dirty="0"/>
            </a:br>
            <a:br>
              <a:rPr dirty="0"/>
            </a:br>
            <a:r>
              <a:rPr dirty="0"/>
              <a:t>[ Insert </a:t>
            </a:r>
            <a:r>
              <a:rPr dirty="0" err="1"/>
              <a:t>Streamlit</a:t>
            </a:r>
            <a:r>
              <a:rPr dirty="0"/>
              <a:t> Input &amp; Prediction Screenshot / Chart here ]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B29A49-4164-01D7-071B-66599658A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376117"/>
            <a:ext cx="5722374" cy="42642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  <a:latin typeface="Segoe UI"/>
              </a:defRPr>
            </a:pPr>
            <a:r>
              <a:t>Impact &amp;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Loan officers get a decision recommendation in seconds instead of reviewing every file by hand.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Every evaluation is logged, so decisions can be traced and checked later.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Connect to credit bureau APIs so an applicant’s credit report can be pulled automatically.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Add monitoring for the deployed app so we can see how it performs over time.</a:t>
            </a: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E6F1FF"/>
                </a:solidFill>
                <a:latin typeface="Segoe UI"/>
              </a:defRPr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744</Words>
  <Application>Microsoft Office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Loan Intent and Default Rate </vt:lpstr>
      <vt:lpstr>Loan Amount Distribution  and  Risk Across Loan  Grades </vt:lpstr>
      <vt:lpstr>Credit History Length 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NAGARAJAN R</cp:lastModifiedBy>
  <cp:revision>2</cp:revision>
  <dcterms:created xsi:type="dcterms:W3CDTF">2013-01-27T09:14:16Z</dcterms:created>
  <dcterms:modified xsi:type="dcterms:W3CDTF">2026-10-24T15:36:01Z</dcterms:modified>
  <cp:category/>
</cp:coreProperties>
</file>